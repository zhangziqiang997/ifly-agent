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21599525" cy="14399895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44" userDrawn="1">
          <p15:clr>
            <a:srgbClr val="A4A3A4"/>
          </p15:clr>
        </p15:guide>
        <p15:guide id="2" pos="6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605A"/>
    <a:srgbClr val="2E54A1"/>
    <a:srgbClr val="E9F3FC"/>
    <a:srgbClr val="1FB963"/>
    <a:srgbClr val="E6E6E6"/>
    <a:srgbClr val="00B050"/>
    <a:srgbClr val="598CB8"/>
    <a:srgbClr val="1E4C79"/>
    <a:srgbClr val="B2B2B2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4644"/>
        <p:guide pos="683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2025" y="1279525"/>
            <a:ext cx="51816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700126" y="2778184"/>
            <a:ext cx="16200758" cy="4592643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12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700126" y="7564182"/>
            <a:ext cx="16200758" cy="3477056"/>
          </a:xfrm>
        </p:spPr>
        <p:txBody>
          <a:bodyPr>
            <a:normAutofit/>
          </a:bodyPr>
          <a:lstStyle>
            <a:lvl1pPr marL="0" indent="0" algn="ctr">
              <a:buNone/>
              <a:defRPr sz="378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960755" indent="0" algn="ctr">
              <a:buNone/>
              <a:defRPr sz="4195"/>
            </a:lvl2pPr>
            <a:lvl3pPr marL="1919605" indent="0" algn="ctr">
              <a:buNone/>
              <a:defRPr sz="3780"/>
            </a:lvl3pPr>
            <a:lvl4pPr marL="2880995" indent="0" algn="ctr">
              <a:buNone/>
              <a:defRPr sz="3360"/>
            </a:lvl4pPr>
            <a:lvl5pPr marL="3841115" indent="0" algn="ctr">
              <a:buNone/>
              <a:defRPr sz="3360"/>
            </a:lvl5pPr>
            <a:lvl6pPr marL="4800600" indent="0" algn="ctr">
              <a:buNone/>
              <a:defRPr sz="3360"/>
            </a:lvl6pPr>
            <a:lvl7pPr marL="5760720" indent="0" algn="ctr">
              <a:buNone/>
              <a:defRPr sz="3360"/>
            </a:lvl7pPr>
            <a:lvl8pPr marL="6720840" indent="0" algn="ctr">
              <a:buNone/>
              <a:defRPr sz="3360"/>
            </a:lvl8pPr>
            <a:lvl9pPr marL="7680325" indent="0" algn="ctr">
              <a:buNone/>
              <a:defRPr sz="336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7554" y="542728"/>
            <a:ext cx="18630872" cy="2783647"/>
          </a:xfrm>
        </p:spPr>
        <p:txBody>
          <a:bodyPr anchor="ctr" anchorCtr="0">
            <a:normAutofit/>
          </a:bodyPr>
          <a:lstStyle>
            <a:lvl1pPr>
              <a:defRPr sz="504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7554" y="3833763"/>
            <a:ext cx="18630872" cy="9137692"/>
          </a:xfrm>
        </p:spPr>
        <p:txBody>
          <a:bodyPr>
            <a:normAutofit/>
          </a:bodyPr>
          <a:lstStyle>
            <a:lvl1pPr>
              <a:defRPr sz="419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378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336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336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336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3819" y="7877245"/>
            <a:ext cx="12971857" cy="1703828"/>
          </a:xfrm>
        </p:spPr>
        <p:txBody>
          <a:bodyPr anchor="b">
            <a:normAutofit/>
          </a:bodyPr>
          <a:lstStyle>
            <a:lvl1pPr>
              <a:defRPr sz="8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73819" y="9680934"/>
            <a:ext cx="12971857" cy="1359848"/>
          </a:xfrm>
        </p:spPr>
        <p:txBody>
          <a:bodyPr>
            <a:normAutofit/>
          </a:bodyPr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960755" indent="0">
              <a:buNone/>
              <a:defRPr sz="4195">
                <a:solidFill>
                  <a:schemeClr val="tx1">
                    <a:tint val="75000"/>
                  </a:schemeClr>
                </a:solidFill>
              </a:defRPr>
            </a:lvl2pPr>
            <a:lvl3pPr marL="191960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3pPr>
            <a:lvl4pPr marL="2880995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4pPr>
            <a:lvl5pPr marL="3841115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5pPr>
            <a:lvl6pPr marL="480060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6pPr>
            <a:lvl7pPr marL="576072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7pPr>
            <a:lvl8pPr marL="672084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8pPr>
            <a:lvl9pPr marL="7680325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7554" y="542728"/>
            <a:ext cx="18630872" cy="2783647"/>
          </a:xfrm>
        </p:spPr>
        <p:txBody>
          <a:bodyPr>
            <a:normAutofit/>
          </a:bodyPr>
          <a:lstStyle>
            <a:lvl1pPr>
              <a:defRPr sz="504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47554" y="3833763"/>
            <a:ext cx="9180430" cy="913769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419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378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336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336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336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597996" y="3833763"/>
            <a:ext cx="9180430" cy="913769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419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378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336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336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336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7883" y="766753"/>
            <a:ext cx="18630872" cy="278364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87883" y="3664370"/>
            <a:ext cx="9138239" cy="1730193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755" indent="0">
              <a:buNone/>
              <a:defRPr sz="4195" b="1"/>
            </a:lvl2pPr>
            <a:lvl3pPr marL="1919605" indent="0">
              <a:buNone/>
              <a:defRPr sz="3780" b="1"/>
            </a:lvl3pPr>
            <a:lvl4pPr marL="2880995" indent="0">
              <a:buNone/>
              <a:defRPr sz="3360" b="1"/>
            </a:lvl4pPr>
            <a:lvl5pPr marL="3841115" indent="0">
              <a:buNone/>
              <a:defRPr sz="3360" b="1"/>
            </a:lvl5pPr>
            <a:lvl6pPr marL="4800600" indent="0">
              <a:buNone/>
              <a:defRPr sz="3360" b="1"/>
            </a:lvl6pPr>
            <a:lvl7pPr marL="5760720" indent="0">
              <a:buNone/>
              <a:defRPr sz="3360" b="1"/>
            </a:lvl7pPr>
            <a:lvl8pPr marL="6720840" indent="0">
              <a:buNone/>
              <a:defRPr sz="3360" b="1"/>
            </a:lvl8pPr>
            <a:lvl9pPr marL="7680325" indent="0">
              <a:buNone/>
              <a:defRPr sz="336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487883" y="5492708"/>
            <a:ext cx="9138239" cy="750541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0935511" y="3664370"/>
            <a:ext cx="9183243" cy="1730193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755" indent="0">
              <a:buNone/>
              <a:defRPr sz="4195" b="1"/>
            </a:lvl2pPr>
            <a:lvl3pPr marL="1919605" indent="0">
              <a:buNone/>
              <a:defRPr sz="3780" b="1"/>
            </a:lvl3pPr>
            <a:lvl4pPr marL="2880995" indent="0">
              <a:buNone/>
              <a:defRPr sz="3360" b="1"/>
            </a:lvl4pPr>
            <a:lvl5pPr marL="3841115" indent="0">
              <a:buNone/>
              <a:defRPr sz="3360" b="1"/>
            </a:lvl5pPr>
            <a:lvl6pPr marL="4800600" indent="0">
              <a:buNone/>
              <a:defRPr sz="3360" b="1"/>
            </a:lvl6pPr>
            <a:lvl7pPr marL="5760720" indent="0">
              <a:buNone/>
              <a:defRPr sz="3360" b="1"/>
            </a:lvl7pPr>
            <a:lvl8pPr marL="6720840" indent="0">
              <a:buNone/>
              <a:defRPr sz="3360" b="1"/>
            </a:lvl8pPr>
            <a:lvl9pPr marL="7680325" indent="0">
              <a:buNone/>
              <a:defRPr sz="336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0935511" y="5492708"/>
            <a:ext cx="9183243" cy="750541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5069" y="5808985"/>
            <a:ext cx="18630872" cy="2783647"/>
          </a:xfrm>
        </p:spPr>
        <p:txBody>
          <a:bodyPr>
            <a:normAutofit/>
          </a:bodyPr>
          <a:lstStyle>
            <a:lvl1pPr algn="ctr">
              <a:defRPr sz="1008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45865" y="266697"/>
            <a:ext cx="7379636" cy="3360377"/>
          </a:xfrm>
        </p:spPr>
        <p:txBody>
          <a:bodyPr anchor="ctr" anchorCtr="0">
            <a:normAutofit/>
          </a:bodyPr>
          <a:lstStyle>
            <a:lvl1pPr>
              <a:defRPr sz="504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9184682" y="1609322"/>
            <a:ext cx="10306856" cy="10698199"/>
          </a:xfrm>
        </p:spPr>
        <p:txBody>
          <a:bodyPr/>
          <a:lstStyle>
            <a:lvl1pPr marL="0" indent="0">
              <a:buNone/>
              <a:defRPr sz="6715"/>
            </a:lvl1pPr>
            <a:lvl2pPr marL="960755" indent="0">
              <a:buNone/>
              <a:defRPr sz="5875"/>
            </a:lvl2pPr>
            <a:lvl3pPr marL="1919605" indent="0">
              <a:buNone/>
              <a:defRPr sz="5040"/>
            </a:lvl3pPr>
            <a:lvl4pPr marL="2880995" indent="0">
              <a:buNone/>
              <a:defRPr sz="4195"/>
            </a:lvl4pPr>
            <a:lvl5pPr marL="3841115" indent="0">
              <a:buNone/>
              <a:defRPr sz="4195"/>
            </a:lvl5pPr>
            <a:lvl6pPr marL="4800600" indent="0">
              <a:buNone/>
              <a:defRPr sz="4195"/>
            </a:lvl6pPr>
            <a:lvl7pPr marL="5760720" indent="0">
              <a:buNone/>
              <a:defRPr sz="4195"/>
            </a:lvl7pPr>
            <a:lvl8pPr marL="6720840" indent="0">
              <a:buNone/>
              <a:defRPr sz="4195"/>
            </a:lvl8pPr>
            <a:lvl9pPr marL="7680325" indent="0">
              <a:buNone/>
              <a:defRPr sz="4195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866" y="4320485"/>
            <a:ext cx="7379636" cy="800423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3360"/>
            </a:lvl1pPr>
            <a:lvl2pPr marL="960755" indent="0">
              <a:buNone/>
              <a:defRPr sz="2945"/>
            </a:lvl2pPr>
            <a:lvl3pPr marL="1919605" indent="0">
              <a:buNone/>
              <a:defRPr sz="2525"/>
            </a:lvl3pPr>
            <a:lvl4pPr marL="2880995" indent="0">
              <a:buNone/>
              <a:defRPr sz="2100"/>
            </a:lvl4pPr>
            <a:lvl5pPr marL="3841115" indent="0">
              <a:buNone/>
              <a:defRPr sz="2100"/>
            </a:lvl5pPr>
            <a:lvl6pPr marL="4800600" indent="0">
              <a:buNone/>
              <a:defRPr sz="2100"/>
            </a:lvl6pPr>
            <a:lvl7pPr marL="5760720" indent="0">
              <a:buNone/>
              <a:defRPr sz="2100"/>
            </a:lvl7pPr>
            <a:lvl8pPr marL="6720840" indent="0">
              <a:buNone/>
              <a:defRPr sz="2100"/>
            </a:lvl8pPr>
            <a:lvl9pPr marL="7680325" indent="0">
              <a:buNone/>
              <a:defRPr sz="21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7406397" y="766753"/>
            <a:ext cx="2709544" cy="12204703"/>
          </a:xfrm>
        </p:spPr>
        <p:txBody>
          <a:bodyPr vert="eaVert">
            <a:normAutofit/>
          </a:bodyPr>
          <a:lstStyle>
            <a:lvl1pPr>
              <a:defRPr sz="756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5069" y="766753"/>
            <a:ext cx="15732945" cy="12204703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485069" y="1158225"/>
            <a:ext cx="18630872" cy="1167368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485069" y="766753"/>
            <a:ext cx="18630872" cy="27836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85069" y="3833763"/>
            <a:ext cx="18630872" cy="9137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85069" y="13348163"/>
            <a:ext cx="4860227" cy="766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5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155335" y="13348163"/>
            <a:ext cx="7290341" cy="766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5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5255714" y="13348163"/>
            <a:ext cx="4860227" cy="766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5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1919605" rtl="0" eaLnBrk="1" latinLnBrk="0" hangingPunct="1">
        <a:lnSpc>
          <a:spcPct val="90000"/>
        </a:lnSpc>
        <a:spcBef>
          <a:spcPct val="0"/>
        </a:spcBef>
        <a:buNone/>
        <a:defRPr sz="8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0" indent="-480060" algn="l" defTabSz="1919605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0" indent="-480060" algn="l" defTabSz="1919605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195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0" indent="-480060" algn="l" defTabSz="1919605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0" indent="-480060" algn="l" defTabSz="1919605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19905" indent="-480060" algn="l" defTabSz="1919605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0" indent="-480060" algn="l" defTabSz="1919605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0" indent="-480060" algn="l" defTabSz="1919605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0" indent="-480060" algn="l" defTabSz="1919605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0" indent="-480060" algn="l" defTabSz="1919605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919605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755" algn="l" defTabSz="1919605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19605" algn="l" defTabSz="1919605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995" algn="l" defTabSz="1919605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1115" algn="l" defTabSz="1919605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0" algn="l" defTabSz="1919605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0" algn="l" defTabSz="1919605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0" algn="l" defTabSz="1919605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325" algn="l" defTabSz="1919605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" name="圆角矩形 47"/>
          <p:cNvSpPr/>
          <p:nvPr/>
        </p:nvSpPr>
        <p:spPr>
          <a:xfrm>
            <a:off x="7000875" y="1132205"/>
            <a:ext cx="6291580" cy="12619990"/>
          </a:xfrm>
          <a:prstGeom prst="roundRect">
            <a:avLst>
              <a:gd name="adj" fmla="val 11404"/>
            </a:avLst>
          </a:prstGeom>
          <a:noFill/>
          <a:ln w="57150">
            <a:solidFill>
              <a:srgbClr val="00B05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274814" y="2673364"/>
            <a:ext cx="3944014" cy="9558725"/>
          </a:xfrm>
          <a:prstGeom prst="roundRect">
            <a:avLst>
              <a:gd name="adj" fmla="val 11833"/>
            </a:avLst>
          </a:prstGeom>
          <a:noFill/>
          <a:ln w="57150"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5678" y="4503748"/>
            <a:ext cx="3090617" cy="1250979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36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</a:t>
            </a:r>
            <a:r>
              <a:rPr lang="en-US" altLang="zh-CN" sz="36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36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</a:t>
            </a:r>
            <a:r>
              <a:rPr lang="en-US" altLang="zh-CN" sz="36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36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</a:t>
            </a:r>
            <a:r>
              <a:rPr lang="en-US" altLang="zh-CN" sz="36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36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</a:t>
            </a:r>
            <a:endParaRPr lang="zh-CN" altLang="en-US" sz="3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PDF/Wold/Excel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 descr="档案-256px_爱给网_aigei_co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361" y="3367071"/>
            <a:ext cx="1932350" cy="1530386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558042" y="6772014"/>
            <a:ext cx="3417015" cy="5155051"/>
          </a:xfrm>
          <a:prstGeom prst="roundRect">
            <a:avLst>
              <a:gd name="adj" fmla="val 9830"/>
            </a:avLst>
          </a:prstGeom>
          <a:solidFill>
            <a:srgbClr val="E9F3FC"/>
          </a:solidFill>
          <a:ln>
            <a:solidFill>
              <a:srgbClr val="598C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9182" y="6996810"/>
            <a:ext cx="3009336" cy="67946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800" b="1">
                <a:solidFill>
                  <a:schemeClr val="tx2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文档解析助手</a:t>
            </a:r>
            <a:endParaRPr lang="zh-CN" altLang="en-US" sz="2800" b="1">
              <a:solidFill>
                <a:schemeClr val="tx2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85680" y="7692151"/>
            <a:ext cx="3188410" cy="67946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sz="28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28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识别版面结构</a:t>
            </a:r>
            <a:endParaRPr lang="zh-CN" altLang="en-US" sz="2800" b="1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 sz="2800" b="1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28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AI</a:t>
            </a:r>
            <a:r>
              <a:rPr lang="zh-CN" altLang="en-US" sz="28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辅助识别参数：</a:t>
            </a:r>
            <a:endParaRPr lang="zh-CN" altLang="en-US" sz="2800" b="1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en-US" altLang="zh-CN" sz="2800" b="1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en-US" altLang="zh-CN" sz="2800" b="1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en-US" altLang="zh-CN" sz="2800" b="1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 sz="2800" b="1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59646" y="9273971"/>
            <a:ext cx="3073472" cy="793134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1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表格：直接调用</a:t>
            </a:r>
            <a:r>
              <a:rPr lang="en-US" altLang="zh-CN" sz="21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pipeline</a:t>
            </a:r>
            <a:endParaRPr lang="zh-CN" altLang="en-US" sz="21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659646" y="10207442"/>
            <a:ext cx="3073472" cy="793134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1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复杂文档：</a:t>
            </a:r>
            <a:r>
              <a:rPr lang="en-US" sz="21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21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自动识别</a:t>
            </a:r>
            <a:endParaRPr lang="zh-CN" altLang="en-US" sz="2100" b="1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85680" y="11166952"/>
            <a:ext cx="3188410" cy="67946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28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28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归一化</a:t>
            </a:r>
            <a:r>
              <a:rPr lang="en-US" altLang="zh-CN" sz="28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</a:t>
            </a:r>
            <a:r>
              <a:rPr lang="zh-CN" altLang="en-US" sz="28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endParaRPr lang="zh-CN" altLang="en-US" sz="2800" b="1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303116" y="1835440"/>
            <a:ext cx="5689733" cy="3571324"/>
          </a:xfrm>
          <a:prstGeom prst="roundRect">
            <a:avLst>
              <a:gd name="adj" fmla="val 983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2">
                  <a:lumMod val="25000"/>
                  <a:lumOff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8154036" y="1952918"/>
                <a:ext cx="3720552" cy="67946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28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第一层</a:t>
                </a:r>
                <a:r>
                  <a:rPr lang="en-US" altLang="zh-CN" sz="28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∙</m:t>
                    </m:r>
                  </m:oMath>
                </a14:m>
                <a:r>
                  <a:rPr lang="en-US" altLang="zh-CN" sz="28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lang="zh-CN" altLang="en-US" sz="28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数值比对</a:t>
                </a:r>
                <a:endParaRPr lang="zh-CN" altLang="en-US" sz="2800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036" y="1952918"/>
                <a:ext cx="3720552" cy="679466"/>
              </a:xfrm>
              <a:prstGeom prst="rect">
                <a:avLst/>
              </a:prstGeom>
              <a:blipFill rotWithShape="1">
                <a:blip r:embed="rId2"/>
                <a:stretch>
                  <a:fillRect t="-43" r="2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圆角矩形 26"/>
              <p:cNvSpPr/>
              <p:nvPr/>
            </p:nvSpPr>
            <p:spPr>
              <a:xfrm>
                <a:off x="7442820" y="2917506"/>
                <a:ext cx="5409057" cy="793134"/>
              </a:xfrm>
              <a:prstGeom prst="roundRect">
                <a:avLst/>
              </a:prstGeom>
              <a:solidFill>
                <a:schemeClr val="bg1"/>
              </a:solidFill>
              <a:ln w="127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1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单位对齐：</a:t>
                </a:r>
                <a:r>
                  <a:rPr lang="en-US" altLang="zh-CN" sz="21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4k=3840</a:t>
                </a:r>
                <a14:m>
                  <m:oMath xmlns:m="http://schemas.openxmlformats.org/officeDocument/2006/math">
                    <m:r>
                      <a:rPr lang="en-US" altLang="zh-CN" sz="2100" b="1" i="1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×</m:t>
                    </m:r>
                  </m:oMath>
                </a14:m>
                <a:r>
                  <a:rPr lang="en-US" altLang="zh-CN" sz="21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2160</a:t>
                </a:r>
                <a:r>
                  <a:rPr lang="zh-CN" altLang="en-US" sz="21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，</a:t>
                </a:r>
                <a:endParaRPr lang="zh-CN" altLang="en-US" sz="21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algn="ctr"/>
                <a:r>
                  <a:rPr lang="zh-CN" altLang="en-US" sz="21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只是说法不同</a:t>
                </a:r>
                <a:endParaRPr lang="zh-CN" altLang="en-US" sz="21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27" name="圆角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820" y="2917506"/>
                <a:ext cx="5409057" cy="793134"/>
              </a:xfrm>
              <a:prstGeom prst="roundRect">
                <a:avLst/>
              </a:prstGeom>
              <a:blipFill rotWithShape="1">
                <a:blip r:embed="rId3"/>
                <a:stretch>
                  <a:fillRect l="-129" t="-840" r="-115" b="-758"/>
                </a:stretch>
              </a:blipFill>
              <a:ln w="12700" cmpd="sng">
                <a:solidFill>
                  <a:srgbClr val="00B050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圆角矩形 27"/>
          <p:cNvSpPr/>
          <p:nvPr/>
        </p:nvSpPr>
        <p:spPr>
          <a:xfrm>
            <a:off x="7442820" y="3986236"/>
            <a:ext cx="5409692" cy="793134"/>
          </a:xfrm>
          <a:prstGeom prst="roundRect">
            <a:avLst/>
          </a:prstGeom>
          <a:solidFill>
            <a:schemeClr val="bg1"/>
          </a:solidFill>
          <a:ln w="12700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1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数值大小比较：根据招标要求判断满足与否</a:t>
            </a:r>
            <a:endParaRPr lang="zh-CN" altLang="en-US" sz="2100" b="1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394707" y="2433624"/>
            <a:ext cx="3290012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纯程序计算，不用大模型</a:t>
            </a:r>
            <a:endParaRPr lang="zh-CN" altLang="en-US" sz="2200" b="1">
              <a:solidFill>
                <a:schemeClr val="accent4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007348" y="4884782"/>
            <a:ext cx="4013929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200" b="1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2200" b="1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</a:t>
            </a:r>
            <a:r>
              <a:rPr lang="zh-CN" altLang="en-US" sz="2200" b="1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在此层直接得出结论</a:t>
            </a:r>
            <a:endParaRPr lang="zh-CN" altLang="en-US" sz="2200" b="1">
              <a:solidFill>
                <a:schemeClr val="accent4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7301846" y="5864607"/>
            <a:ext cx="5689733" cy="3571324"/>
          </a:xfrm>
          <a:prstGeom prst="roundRect">
            <a:avLst>
              <a:gd name="adj" fmla="val 983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2">
                  <a:lumMod val="25000"/>
                  <a:lumOff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152766" y="5982085"/>
                <a:ext cx="3720552" cy="67946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28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第二层</a:t>
                </a:r>
                <a:r>
                  <a:rPr lang="en-US" altLang="zh-CN" sz="28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∙</m:t>
                    </m:r>
                  </m:oMath>
                </a14:m>
                <a:r>
                  <a:rPr lang="en-US" altLang="zh-CN" sz="28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8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控标方识别</a:t>
                </a:r>
                <a:endParaRPr lang="zh-CN" altLang="en-US" sz="2800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766" y="5982085"/>
                <a:ext cx="3720552" cy="679466"/>
              </a:xfrm>
              <a:prstGeom prst="rect">
                <a:avLst/>
              </a:prstGeom>
              <a:blipFill rotWithShape="1">
                <a:blip r:embed="rId4"/>
                <a:stretch>
                  <a:fillRect t="-57" r="2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 4"/>
          <p:cNvSpPr/>
          <p:nvPr/>
        </p:nvSpPr>
        <p:spPr>
          <a:xfrm>
            <a:off x="7454250" y="6946672"/>
            <a:ext cx="5409057" cy="793134"/>
          </a:xfrm>
          <a:prstGeom prst="roundRect">
            <a:avLst/>
          </a:prstGeom>
          <a:solidFill>
            <a:schemeClr val="bg1"/>
          </a:solidFill>
          <a:ln w="12700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每条参数比对三家竞品：希沃</a:t>
            </a:r>
            <a:r>
              <a:rPr lang="en-US" altLang="zh-CN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鸿合</a:t>
            </a:r>
            <a:r>
              <a:rPr lang="en-US" altLang="zh-CN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海康</a:t>
            </a:r>
            <a:endParaRPr lang="zh-CN" altLang="en-US" sz="21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454250" y="8015402"/>
            <a:ext cx="1614208" cy="793134"/>
          </a:xfrm>
          <a:prstGeom prst="roundRect">
            <a:avLst/>
          </a:prstGeom>
          <a:solidFill>
            <a:schemeClr val="bg1"/>
          </a:solidFill>
          <a:ln w="12700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1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仅一家命中</a:t>
            </a:r>
            <a:endParaRPr lang="zh-CN" altLang="en-US" sz="2100" b="1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20440" y="6462791"/>
            <a:ext cx="3290012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查表统计，不用大模型</a:t>
            </a:r>
            <a:endParaRPr lang="zh-CN" altLang="en-US" sz="2200" b="1">
              <a:solidFill>
                <a:schemeClr val="accent4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74268" y="8913948"/>
            <a:ext cx="5220457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200" b="1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命中最多者为控标方，命中率为置信度</a:t>
            </a:r>
            <a:endParaRPr lang="zh-CN" altLang="en-US" sz="2200" b="1">
              <a:solidFill>
                <a:schemeClr val="accent4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358660" y="8015402"/>
            <a:ext cx="3506552" cy="793134"/>
          </a:xfrm>
          <a:prstGeom prst="roundRect">
            <a:avLst/>
          </a:prstGeom>
          <a:solidFill>
            <a:schemeClr val="bg1"/>
          </a:solidFill>
          <a:ln w="12700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1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独有特征，统计各家命中数</a:t>
            </a:r>
            <a:endParaRPr lang="zh-CN" altLang="en-US" sz="2100" b="1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2" name="直接箭头连接符 11"/>
          <p:cNvCxnSpPr>
            <a:stCxn id="8" idx="3"/>
            <a:endCxn id="11" idx="1"/>
          </p:cNvCxnSpPr>
          <p:nvPr/>
        </p:nvCxnSpPr>
        <p:spPr>
          <a:xfrm>
            <a:off x="9068458" y="8412286"/>
            <a:ext cx="290202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7301846" y="9889963"/>
            <a:ext cx="5689733" cy="3571324"/>
          </a:xfrm>
          <a:prstGeom prst="roundRect">
            <a:avLst>
              <a:gd name="adj" fmla="val 983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2">
                  <a:lumMod val="25000"/>
                  <a:lumOff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8152766" y="10007441"/>
                <a:ext cx="3720552" cy="67946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28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第三层</a:t>
                </a:r>
                <a:r>
                  <a:rPr lang="en-US" altLang="zh-CN" sz="28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∙</m:t>
                    </m:r>
                  </m:oMath>
                </a14:m>
                <a:r>
                  <a:rPr lang="en-US" altLang="zh-CN" sz="28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AI</a:t>
                </a:r>
                <a:r>
                  <a:rPr lang="zh-CN" altLang="en-US" sz="2800" b="1">
                    <a:solidFill>
                      <a:schemeClr val="accent4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语义精判</a:t>
                </a:r>
                <a:endParaRPr lang="zh-CN" altLang="en-US" sz="2800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766" y="10007441"/>
                <a:ext cx="3720552" cy="679466"/>
              </a:xfrm>
              <a:prstGeom prst="rect">
                <a:avLst/>
              </a:prstGeom>
              <a:blipFill rotWithShape="1">
                <a:blip r:embed="rId5"/>
                <a:stretch>
                  <a:fillRect t="-70" r="2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圆角矩形 17"/>
          <p:cNvSpPr/>
          <p:nvPr/>
        </p:nvSpPr>
        <p:spPr>
          <a:xfrm>
            <a:off x="7425674" y="10997429"/>
            <a:ext cx="1613573" cy="793134"/>
          </a:xfrm>
          <a:prstGeom prst="roundRect">
            <a:avLst/>
          </a:prstGeom>
          <a:solidFill>
            <a:schemeClr val="bg1"/>
          </a:solidFill>
          <a:ln w="12700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说法不同</a:t>
            </a:r>
            <a:endParaRPr lang="zh-CN" altLang="en-US" sz="21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意思相同</a:t>
            </a:r>
            <a:endParaRPr lang="zh-CN" altLang="en-US" sz="21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7425674" y="11981067"/>
            <a:ext cx="1614208" cy="793134"/>
          </a:xfrm>
          <a:prstGeom prst="roundRect">
            <a:avLst/>
          </a:prstGeom>
          <a:solidFill>
            <a:schemeClr val="bg1"/>
          </a:solidFill>
          <a:ln w="12700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1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确实不满足</a:t>
            </a:r>
            <a:endParaRPr lang="zh-CN" altLang="en-US" sz="2100" b="1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431538" y="10488147"/>
            <a:ext cx="3290012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大模型理解：</a:t>
            </a:r>
            <a:r>
              <a:rPr lang="en-US" altLang="zh-CN" sz="2200" b="1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lang="en-US" altLang="zh-CN" sz="2200" b="1">
              <a:solidFill>
                <a:schemeClr val="accent4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801603" y="12925969"/>
            <a:ext cx="4419704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200" b="1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只处理前两层无法确定的疑难项</a:t>
            </a:r>
            <a:endParaRPr lang="zh-CN" altLang="en-US" sz="2200" b="1">
              <a:solidFill>
                <a:schemeClr val="accent4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9330084" y="11981067"/>
            <a:ext cx="3544653" cy="793134"/>
          </a:xfrm>
          <a:prstGeom prst="roundRect">
            <a:avLst/>
          </a:prstGeom>
          <a:solidFill>
            <a:schemeClr val="bg1"/>
          </a:solidFill>
          <a:ln w="12700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1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生成质疑话术</a:t>
            </a:r>
            <a:r>
              <a:rPr lang="en-US" altLang="zh-CN" sz="21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100" b="1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渠道协调建议</a:t>
            </a:r>
            <a:endParaRPr lang="zh-CN" altLang="en-US" sz="2100" b="1">
              <a:solidFill>
                <a:schemeClr val="tx2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34" name="直接箭头连接符 33"/>
          <p:cNvCxnSpPr>
            <a:stCxn id="25" idx="3"/>
            <a:endCxn id="33" idx="1"/>
          </p:cNvCxnSpPr>
          <p:nvPr/>
        </p:nvCxnSpPr>
        <p:spPr>
          <a:xfrm>
            <a:off x="9039882" y="12377952"/>
            <a:ext cx="290202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圆角矩形 34"/>
          <p:cNvSpPr/>
          <p:nvPr/>
        </p:nvSpPr>
        <p:spPr>
          <a:xfrm>
            <a:off x="9330084" y="10997429"/>
            <a:ext cx="3544653" cy="793134"/>
          </a:xfrm>
          <a:prstGeom prst="roundRect">
            <a:avLst/>
          </a:prstGeom>
          <a:solidFill>
            <a:schemeClr val="bg1"/>
          </a:solidFill>
          <a:ln w="12700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说辞可改，</a:t>
            </a:r>
            <a:r>
              <a:rPr lang="en-US" altLang="zh-CN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给出改写建议</a:t>
            </a:r>
            <a:endParaRPr lang="zh-CN" altLang="en-US" sz="21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9039247" y="11393679"/>
            <a:ext cx="290202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下箭头 36"/>
          <p:cNvSpPr/>
          <p:nvPr/>
        </p:nvSpPr>
        <p:spPr>
          <a:xfrm>
            <a:off x="9754147" y="5433735"/>
            <a:ext cx="644530" cy="403863"/>
          </a:xfrm>
          <a:prstGeom prst="downArrow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下箭头 37"/>
          <p:cNvSpPr/>
          <p:nvPr/>
        </p:nvSpPr>
        <p:spPr>
          <a:xfrm>
            <a:off x="9754147" y="9466015"/>
            <a:ext cx="644530" cy="403863"/>
          </a:xfrm>
          <a:prstGeom prst="downArrow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415186" y="9449505"/>
            <a:ext cx="1606562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18605A"/>
                </a:solidFill>
                <a:latin typeface="微软雅黑" panose="020B0503020204020204" charset="-122"/>
                <a:ea typeface="微软雅黑" panose="020B0503020204020204" charset="-122"/>
              </a:rPr>
              <a:t>疑难项下沉</a:t>
            </a:r>
            <a:endParaRPr lang="zh-CN" altLang="en-US" sz="2200" b="1">
              <a:solidFill>
                <a:srgbClr val="186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415186" y="5421035"/>
            <a:ext cx="1459241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18605A"/>
                </a:solidFill>
                <a:latin typeface="微软雅黑" panose="020B0503020204020204" charset="-122"/>
                <a:ea typeface="微软雅黑" panose="020B0503020204020204" charset="-122"/>
              </a:rPr>
              <a:t>数值判定</a:t>
            </a:r>
            <a:endParaRPr lang="zh-CN" altLang="en-US" sz="2200" b="1">
              <a:solidFill>
                <a:srgbClr val="1860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下箭头 42"/>
          <p:cNvSpPr/>
          <p:nvPr/>
        </p:nvSpPr>
        <p:spPr>
          <a:xfrm>
            <a:off x="1852165" y="6033808"/>
            <a:ext cx="644530" cy="626750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537335" y="6086514"/>
            <a:ext cx="824236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输入</a:t>
            </a:r>
            <a:endParaRPr lang="zh-CN" altLang="en-US" sz="22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46291" y="2800365"/>
            <a:ext cx="3086758" cy="524514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输入与解析</a:t>
            </a:r>
            <a:endParaRPr lang="zh-CN" altLang="en-US" sz="32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564741" y="1221755"/>
            <a:ext cx="3086758" cy="524514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200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三层判定引擎</a:t>
            </a:r>
            <a:endParaRPr lang="zh-CN" altLang="en-US" sz="3200" b="1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15912465" y="2689225"/>
            <a:ext cx="5330190" cy="10237470"/>
          </a:xfrm>
          <a:prstGeom prst="roundRect">
            <a:avLst>
              <a:gd name="adj" fmla="val 8684"/>
            </a:avLst>
          </a:prstGeom>
          <a:noFill/>
          <a:ln w="57150">
            <a:solidFill>
              <a:schemeClr val="accent3">
                <a:lumMod val="7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2" name="肘形连接符 51"/>
          <p:cNvCxnSpPr>
            <a:stCxn id="45" idx="3"/>
            <a:endCxn id="24" idx="1"/>
          </p:cNvCxnSpPr>
          <p:nvPr/>
        </p:nvCxnSpPr>
        <p:spPr>
          <a:xfrm flipV="1">
            <a:off x="4218940" y="3620770"/>
            <a:ext cx="3084195" cy="3832225"/>
          </a:xfrm>
          <a:prstGeom prst="bentConnector3">
            <a:avLst>
              <a:gd name="adj1" fmla="val 50010"/>
            </a:avLst>
          </a:prstGeom>
          <a:ln w="762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13321030" y="8778875"/>
            <a:ext cx="2621280" cy="11430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圆角矩形 53"/>
          <p:cNvSpPr/>
          <p:nvPr/>
        </p:nvSpPr>
        <p:spPr>
          <a:xfrm>
            <a:off x="16172815" y="6170930"/>
            <a:ext cx="4824095" cy="5030470"/>
          </a:xfrm>
          <a:prstGeom prst="roundRect">
            <a:avLst>
              <a:gd name="adj" fmla="val 983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2">
                  <a:lumMod val="25000"/>
                  <a:lumOff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/>
              <p:cNvSpPr txBox="1"/>
              <p:nvPr/>
            </p:nvSpPr>
            <p:spPr>
              <a:xfrm>
                <a:off x="16737331" y="6310380"/>
                <a:ext cx="3720552" cy="67946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2800" b="1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输出</a:t>
                </a:r>
                <a:r>
                  <a:rPr lang="en-US" altLang="zh-CN" sz="2800" b="1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∙</m:t>
                    </m:r>
                  </m:oMath>
                </a14:m>
                <a:r>
                  <a:rPr lang="en-US" altLang="zh-CN" sz="2800" b="1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800" b="1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技术分析报告</a:t>
                </a:r>
                <a:endParaRPr lang="zh-CN" altLang="en-US" sz="2800" b="1">
                  <a:solidFill>
                    <a:schemeClr val="accent2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56" name="文本框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7331" y="6310380"/>
                <a:ext cx="3720552" cy="679466"/>
              </a:xfrm>
              <a:prstGeom prst="rect">
                <a:avLst/>
              </a:prstGeom>
              <a:blipFill rotWithShape="1">
                <a:blip r:embed="rId6"/>
                <a:stretch>
                  <a:fillRect t="-57" r="2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圆角矩形 56"/>
          <p:cNvSpPr/>
          <p:nvPr/>
        </p:nvSpPr>
        <p:spPr>
          <a:xfrm>
            <a:off x="16413480" y="6977380"/>
            <a:ext cx="4343400" cy="793115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疑似控标方指定</a:t>
            </a:r>
            <a:r>
              <a:rPr lang="en-US" altLang="zh-CN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置信度</a:t>
            </a:r>
            <a:endParaRPr lang="zh-CN" altLang="en-US" sz="21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16413480" y="7983220"/>
            <a:ext cx="4343400" cy="793115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逐条正</a:t>
            </a:r>
            <a:r>
              <a:rPr lang="en-US" altLang="zh-CN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负偏离标记</a:t>
            </a:r>
            <a:endParaRPr lang="zh-CN" altLang="en-US" sz="21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16413480" y="9065260"/>
            <a:ext cx="4343400" cy="793115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负偏离应对建议</a:t>
            </a:r>
            <a:endParaRPr lang="zh-CN" altLang="en-US" sz="21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16413480" y="10083165"/>
            <a:ext cx="4343400" cy="793115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根据命中率评估产品技术分</a:t>
            </a:r>
            <a:endParaRPr lang="zh-CN" altLang="en-US" sz="21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16172815" y="3596640"/>
            <a:ext cx="4824095" cy="2194560"/>
          </a:xfrm>
          <a:prstGeom prst="roundRect">
            <a:avLst>
              <a:gd name="adj" fmla="val 983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2">
                  <a:lumMod val="25000"/>
                  <a:lumOff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/>
              <p:cNvSpPr txBox="1"/>
              <p:nvPr/>
            </p:nvSpPr>
            <p:spPr>
              <a:xfrm>
                <a:off x="16724631" y="3704340"/>
                <a:ext cx="3720552" cy="67946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2800" b="1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输出</a:t>
                </a:r>
                <a:r>
                  <a:rPr lang="en-US" altLang="zh-CN" sz="2800" b="1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∙</m:t>
                    </m:r>
                  </m:oMath>
                </a14:m>
                <a:r>
                  <a:rPr lang="en-US" altLang="zh-CN" sz="2800" b="1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800" b="1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综合建议生成</a:t>
                </a:r>
                <a:endParaRPr lang="zh-CN" altLang="en-US" sz="2800" b="1">
                  <a:solidFill>
                    <a:schemeClr val="accent2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63" name="文本框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4631" y="3704340"/>
                <a:ext cx="3720552" cy="679466"/>
              </a:xfrm>
              <a:prstGeom prst="rect">
                <a:avLst/>
              </a:prstGeom>
              <a:blipFill rotWithShape="1">
                <a:blip r:embed="rId7"/>
                <a:stretch>
                  <a:fillRect t="-57" r="2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圆角矩形 63"/>
          <p:cNvSpPr/>
          <p:nvPr/>
        </p:nvSpPr>
        <p:spPr>
          <a:xfrm>
            <a:off x="16413480" y="4358640"/>
            <a:ext cx="4343400" cy="123952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accent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2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根据预测的技术分是否具有优势生成对于价格制定、演讲策略等多个维度的建议</a:t>
            </a:r>
            <a:endParaRPr lang="zh-CN" altLang="en-US" sz="21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16172815" y="11579225"/>
            <a:ext cx="4824095" cy="998220"/>
          </a:xfrm>
          <a:prstGeom prst="roundRect">
            <a:avLst>
              <a:gd name="adj" fmla="val 983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2">
                  <a:lumMod val="25000"/>
                  <a:lumOff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/>
              <p:cNvSpPr txBox="1"/>
              <p:nvPr/>
            </p:nvSpPr>
            <p:spPr>
              <a:xfrm>
                <a:off x="16172815" y="11822430"/>
                <a:ext cx="4763135" cy="67945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2800" b="1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输出</a:t>
                </a:r>
                <a:r>
                  <a:rPr lang="en-US" altLang="zh-CN" sz="2800" b="1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∙</m:t>
                    </m:r>
                  </m:oMath>
                </a14:m>
                <a:r>
                  <a:rPr lang="en-US" altLang="zh-CN" sz="2800" b="1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800" b="1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改进前后中标概率预测</a:t>
                </a:r>
                <a:endParaRPr lang="zh-CN" altLang="en-US" sz="2800" b="1">
                  <a:solidFill>
                    <a:schemeClr val="accent2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2815" y="11822430"/>
                <a:ext cx="4763135" cy="67945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文本框 66"/>
          <p:cNvSpPr txBox="1"/>
          <p:nvPr/>
        </p:nvSpPr>
        <p:spPr>
          <a:xfrm>
            <a:off x="16800830" y="2872740"/>
            <a:ext cx="3517265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200" b="1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多维度评估与建议</a:t>
            </a:r>
            <a:endParaRPr lang="zh-CN" altLang="en-US" sz="3200" b="1">
              <a:solidFill>
                <a:schemeClr val="accent2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WPS 演示</Application>
  <PresentationFormat>宽屏</PresentationFormat>
  <Paragraphs>85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Cambria Math</vt:lpstr>
      <vt:lpstr>微软雅黑</vt:lpstr>
      <vt:lpstr>黑体</vt:lpstr>
      <vt:lpstr>Arial Unicode MS</vt:lpstr>
      <vt:lpstr>Arial Black</vt:lpstr>
      <vt:lpstr>MS Mincho</vt:lpstr>
      <vt:lpstr>Segoe Print</vt:lpstr>
      <vt:lpstr>WPS​​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wzxu7</dc:creator>
  <cp:lastModifiedBy>zqzhang47</cp:lastModifiedBy>
  <cp:revision>10</cp:revision>
  <dcterms:created xsi:type="dcterms:W3CDTF">2023-07-11T07:43:00Z</dcterms:created>
  <dcterms:modified xsi:type="dcterms:W3CDTF">2026-07-27T07:42:25Z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2052-12.8.2.21555</vt:lpwstr>
  </property>
  <property fmtid="{D5CDD505-2E9C-101B-9397-08002B2CF9AE}" pid="3" name="ICV">
    <vt:lpwstr>7675F0BCF4B14164B94DFF77A994AF37_13</vt:lpwstr>
  </property>
  <property fmtid="{D5CDD505-2E9C-101B-9397-08002B2CF9AE}" pid="4" name="CWM239c8e60898e11f1800069cd000069cd">
    <vt:lpwstr>CWM8W1i1/aZ67T/gyjAi9ncgjCCtWT534F7KTXdQH5K/L922iEYkmbS3lc0SfveTlnADn7eBIqSZatHCyEbNUSwug==</vt:lpwstr>
  </property>
</Properties>
</file>